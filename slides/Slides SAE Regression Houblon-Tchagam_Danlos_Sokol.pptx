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86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00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6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375E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345C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SCIENCE DES DONNÉES  ·  ANNÉE 2025–2026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des courbes de croissance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Guinée-Bissau &amp; Papouasie Nouvelle-Guinée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194560" cy="0"/>
          </a:xfrm>
          <a:prstGeom prst="line">
            <a:avLst/>
          </a:prstGeom>
          <a:noFill/>
          <a:ln w="19050">
            <a:solidFill>
              <a:srgbClr val="7FA6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« Régression sur données réelles » — Projet 35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internationale 2020 · Enfants âgés de 5 à 19 ans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Houblon-Tchagam   ·   Florent Danlos   ·   Nathan Sokol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étude internationale de la croissance infantile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2020, une étude menée dans plus de 90 pays a recueilli l'âge et la taille d'enfants et d'adolescents de 5 à 19 ans.</a:t>
            </a:r>
            <a:endParaRPr lang="en-US" sz="145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200 médecins tirés au sort par pays, chacun examinant 20 patients (10 filles, 10 garçons).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rapport porte sur deux pays aux profils contrastés : la Guinée-Bissau (Afrique de l'Ouest) et la Papouasie Nouvelle-Guinée (Océanie).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L'ÉTUDE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3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les distributions de taille et d'âge par profil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321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3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la croissance par régression polynomiale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7058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→"/>
            </a:pPr>
            <a:r>
              <a:rPr lang="en-US" sz="13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médiane et quartiles conditionnels par âge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691640"/>
            <a:ext cx="46634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22376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423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05256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enfants au total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3172968"/>
            <a:ext cx="4023360" cy="0"/>
          </a:xfrm>
          <a:prstGeom prst="line">
            <a:avLst/>
          </a:prstGeom>
          <a:noFill/>
          <a:ln w="9525">
            <a:solidFill>
              <a:srgbClr val="DCD8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223760" y="32644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32644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comparés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4014216"/>
            <a:ext cx="4023360" cy="0"/>
          </a:xfrm>
          <a:prstGeom prst="line">
            <a:avLst/>
          </a:prstGeom>
          <a:noFill/>
          <a:ln w="9525">
            <a:solidFill>
              <a:srgbClr val="DCD8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223760" y="41056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52560" y="41056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sexe × pays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4855464"/>
            <a:ext cx="4023360" cy="0"/>
          </a:xfrm>
          <a:prstGeom prst="line">
            <a:avLst/>
          </a:prstGeom>
          <a:noFill/>
          <a:ln w="9525">
            <a:solidFill>
              <a:srgbClr val="DCD8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223760" y="49469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5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5–19 ans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52560" y="49469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d'âge étudiée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Régression — Projet 35  |  Courbes de croissance, Guinée-Bissau &amp; Papouasie N.-G.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3D6B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ANALYSE DESCRIPTIVE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échantillons équilibrés, des profils déjà différenciés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7909560" y="182880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EDF1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81838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MONTRENT LES DONNÉES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183880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Échantillonnage équilibré : âges très homogènes entre les 4 groupes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183880" y="35204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Tailles médianes proches filles/garçons, mais les garçons sont plus dispersés (écart-type ≈ 20 cm vs 16 cm)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183880" y="45720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Guinée-Bissau légèrement au-dessus de la Papouasie N.-G., pour les deux sexes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956048"/>
          <a:ext cx="7178040" cy="15087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Moy. (cm)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Écart-type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GBG · Filles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GBB · Garçons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PNGG · Filles PNG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PNGB · Garçons PNG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502920" y="6505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Régression — Projet 35  |  Courbes de croissance, Guinée-Bissau &amp; Papouasie N.-G.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33" name="Image 32" descr="Figure 1 – Distributions de l'âge et de la taille par groupe (boîtes à moustaches)">
            <a:extLst>
              <a:ext uri="{FF2B5EF4-FFF2-40B4-BE49-F238E27FC236}">
                <a16:creationId xmlns:a16="http://schemas.microsoft.com/office/drawing/2014/main" id="{C9FD775E-850F-1752-36EA-DCD2E466D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" y="1660904"/>
            <a:ext cx="6725921" cy="31819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B85C6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icon_ru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AJUSTEMENT POLYNOMIAL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courbe en S, sélectionnée par minimisation de l'AIC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726948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B8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269480" y="2148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polynomiale de degré 2 à 7 (moindres carrés), avec le degré optimal choisi par AIC minimal pour chaque profil.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269480" y="3063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B8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DEGRÉ RETENU PAR PROFIL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3401568"/>
          <a:ext cx="4297680" cy="1554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Filles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10 160,4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Garçons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10 182,4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Filles PNG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10 137,3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Garçons PNG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E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10 194,1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7269480" y="55321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en S : </a:t>
            </a: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rapide en enfance, puis plateau à l'adolescence — plus précoce chez les filles (14-15 ans) que chez les garçons (17-18 ans).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Régression — Projet 35  |  Courbes de croissance, Guinée-Bissau &amp; Papouasie N.-G.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B69F23B-096F-7FFA-05A6-1706C89E9B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93" r="51481" b="50265"/>
          <a:stretch>
            <a:fillRect/>
          </a:stretch>
        </p:blipFill>
        <p:spPr>
          <a:xfrm>
            <a:off x="514436" y="1669923"/>
            <a:ext cx="2678790" cy="232734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4523E79-41DE-4653-084A-C5149A03C5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444" t="2249" b="50265"/>
          <a:stretch>
            <a:fillRect/>
          </a:stretch>
        </p:blipFill>
        <p:spPr>
          <a:xfrm>
            <a:off x="3638396" y="1669923"/>
            <a:ext cx="2610596" cy="2353437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ABC254CC-2AF3-7C75-1243-4BB5C1E000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265" r="51481"/>
          <a:stretch>
            <a:fillRect/>
          </a:stretch>
        </p:blipFill>
        <p:spPr>
          <a:xfrm>
            <a:off x="514436" y="4063274"/>
            <a:ext cx="2678790" cy="233752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2656FB2-75D8-D889-2F5D-2DC25A6A53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259" t="50265" r="2222"/>
          <a:stretch>
            <a:fillRect/>
          </a:stretch>
        </p:blipFill>
        <p:spPr>
          <a:xfrm>
            <a:off x="3638396" y="4135085"/>
            <a:ext cx="2610596" cy="2265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7A9B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icon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MÉDIANES ET QUARTILES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lecture non paramétrique, robuste aux valeurs extrêmes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726948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269480" y="2148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tranche 5–19 ans est divisée en 15 classes d'âge égales ; médiane, 1er et 3e quartiles de la taille sont calculés sur chaque classe.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269480" y="3200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MONTRENT LES COURBES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269480" y="3547872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soutenue de 5 à 12 ans, puis ralentissement et plateau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269480" y="422452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 pubertaire variable selon le sexe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269480" y="490118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Q1–Q3 stable avec l'âge : pas d'élargissement à la puberté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269480" y="557784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5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Âges de puberté assez uniformément répartis dans la population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Régression — Projet 35  |  Courbes de croissance, Guinée-Bissau &amp; Papouasie N.-G.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2AE1B68D-718F-0B52-F1D5-EEFFF7A41D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86" r="50338" b="49914"/>
          <a:stretch>
            <a:fillRect/>
          </a:stretch>
        </p:blipFill>
        <p:spPr>
          <a:xfrm>
            <a:off x="673995" y="1847088"/>
            <a:ext cx="2288279" cy="221167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BD01D73-3411-9972-6BE4-648DAD4465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111" t="1969" b="51106"/>
          <a:stretch>
            <a:fillRect/>
          </a:stretch>
        </p:blipFill>
        <p:spPr>
          <a:xfrm>
            <a:off x="3723299" y="1847088"/>
            <a:ext cx="2398444" cy="221167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DE6701CE-FDCD-64B0-DD29-AF3E3BEA54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957" r="50338"/>
          <a:stretch>
            <a:fillRect/>
          </a:stretch>
        </p:blipFill>
        <p:spPr>
          <a:xfrm>
            <a:off x="640080" y="4126255"/>
            <a:ext cx="2322194" cy="229323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C209810-8E3D-7973-039B-12AF5BCF19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338" t="51462"/>
          <a:stretch>
            <a:fillRect/>
          </a:stretch>
        </p:blipFill>
        <p:spPr>
          <a:xfrm>
            <a:off x="3723300" y="4173496"/>
            <a:ext cx="2398444" cy="22459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B85C6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icon_fri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COMPARAISON FILLES / GARÇONS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pubertaire féminine, puis dépassement masculin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7909560" y="18745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BF1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81838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B8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COURBES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1838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ans : les filles grandissent plus vite (puberté précoce)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83880" y="3355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13–14 ans : les garçons rattrapent puis dépassent les filles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83880" y="419709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adulte : garçons plus grands — GB 167,5 vs 159,3 cm ; PNG 163,6 vs 156,3 cm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83880" y="50383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Variabilité plus forte chez les garçons (écart-type ≈ 20 vs 16 cm)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50749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 Taille~Sexe (global, tous âges) : </a:t>
            </a:r>
            <a:r>
              <a:rPr lang="en-US" sz="1200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significatif (p = 0,658) — les deux effets opposés s'annulent en moyenne sur 5–19 ans.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Régression — Projet 35  |  Courbes de croissance, Guinée-Bissau &amp; Papouasie N.-G.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16" name="Image 15" descr="Figure 4 – Comparaison des courbes de croissance filles/garçons par pays">
            <a:extLst>
              <a:ext uri="{FF2B5EF4-FFF2-40B4-BE49-F238E27FC236}">
                <a16:creationId xmlns:a16="http://schemas.microsoft.com/office/drawing/2014/main" id="{189434D0-48DA-419A-58C3-274A0F3C6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3755"/>
            <a:ext cx="6717453" cy="36504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7A9B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/home/claude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COMPARAISON DES PAYS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Guinée-Bissau, légèrement mais durablement plus grande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7909560" y="18745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EDF1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81838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COURBES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1838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modéré mais constant en faveur de la Guinée-Bissau, pour les deux sexes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83880" y="33558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5 ans : écart faible (108,2 vs 106,5 cm chez les filles)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83880" y="419709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15 ans : écart plus marqué (156,6 vs 153,6 cm chez les filles)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83880" y="50383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200" dirty="0">
                <a:solidFill>
                  <a:srgbClr val="2E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possibles : nutrition, accès aux soins, génétique, environnement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50749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 Taille~Pays : </a:t>
            </a:r>
            <a:r>
              <a:rPr lang="en-US" sz="1200" i="1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significatif (p &lt; 0,001) — écart moyen de 2,92 cm (IC 95 % : [2,12 ; 3,72] cm) en faveur de la Guinée-Bissau.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Régression — Projet 35  |  Courbes de croissance, Guinée-Bissau &amp; Papouasie N.-G.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6" name="Image 15" descr="Figure 5 – Comparaison des courbes de croissance entre Guinée-Bissau et Papouasie N.-G.">
            <a:extLst>
              <a:ext uri="{FF2B5EF4-FFF2-40B4-BE49-F238E27FC236}">
                <a16:creationId xmlns:a16="http://schemas.microsoft.com/office/drawing/2014/main" id="{DB42DE0B-E623-321A-EA9C-A73FA96D2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9" y="1880406"/>
            <a:ext cx="6597227" cy="3267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6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345C6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retient l'étude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335A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51560" y="2350008"/>
            <a:ext cx="502920" cy="502920"/>
          </a:xfrm>
          <a:prstGeom prst="ellipse">
            <a:avLst/>
          </a:prstGeom>
          <a:solidFill>
            <a:srgbClr val="2A4C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icon_ru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717" y="2463165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51560" y="347472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polynomiale (degrés 6-7, choisis par AIC) capture bien la forme sigmoïde de la croissance, là où un modèle linéaire échoue.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20574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335A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800600" y="2350008"/>
            <a:ext cx="502920" cy="502920"/>
          </a:xfrm>
          <a:prstGeom prst="ellipse">
            <a:avLst/>
          </a:prstGeom>
          <a:solidFill>
            <a:srgbClr val="2A4C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icon_fri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757" y="2463165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biologiques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800600" y="347472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commun aux deux pays : avance des filles entre 9 et 12 ans, dépassement par les garçons ensuite, taille adulte plus élevée chez les garçons.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75320" y="20574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335A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549640" y="2350008"/>
            <a:ext cx="502920" cy="502920"/>
          </a:xfrm>
          <a:prstGeom prst="ellipse">
            <a:avLst/>
          </a:prstGeom>
          <a:solidFill>
            <a:srgbClr val="2A4C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/home/claude/icon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797" y="2463165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pays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549640" y="347472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Guinée-Bissau est légèrement plus grande que la Papouasie N.-G., avec un écart modéré mais statistiquement significatif (p &lt; 0,001).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— </a:t>
            </a:r>
            <a:r>
              <a:rPr lang="en-US" sz="13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enrichir avec d'autres variables (IMC, milieu rural/urbain) et une comparaison aux courbes de référence de l'OMS.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892</Words>
  <Application>Microsoft Office PowerPoint</Application>
  <PresentationFormat>Grand écran</PresentationFormat>
  <Paragraphs>121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 Régression — Étude des courbes de croissance</dc:title>
  <dc:subject>PptxGenJS Presentation</dc:subject>
  <dc:creator>William Houblon-Tchagam, Florent Danlos, Nathan Sokol</dc:creator>
  <cp:lastModifiedBy>William HOUBLON TCHAGAM</cp:lastModifiedBy>
  <cp:revision>2</cp:revision>
  <dcterms:created xsi:type="dcterms:W3CDTF">2026-06-17T05:57:57Z</dcterms:created>
  <dcterms:modified xsi:type="dcterms:W3CDTF">2026-06-17T06:28:52Z</dcterms:modified>
</cp:coreProperties>
</file>